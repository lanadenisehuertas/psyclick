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27C7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Hardened Clinical Decision-Support System for Detecting Single-Session Psychomotor Disturbances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EWMA-based multivariate analysis of keystroke &amp; cursor dynamics, hardened with Information-Assurance controls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4754880" cy="0"/>
          </a:xfrm>
          <a:prstGeom prst="line">
            <a:avLst/>
          </a:prstGeom>
          <a:noFill/>
          <a:ln w="19050">
            <a:solidFill>
              <a:srgbClr val="127C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CS0029 — Information Assurance and Security  |  Final Project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Añonuevo · Ballano · Huertas · Tablate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Adviser: Mr. Justine Jude C. Pura   ·   FEU Institute of Technology — BSCS (Software Engineering)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Non-diagnostic · Local-first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819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91640" y="16002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problem and what PsyClick sets out to 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090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91640" y="31089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Workflow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47472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non-diagnostic decision-support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599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91640" y="4617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98348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architecture, DFD, ERD, network &amp; trust boundaries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41732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5819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06640" y="16002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Assurance &amp; Security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06640" y="196596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authN/Z, data protection, audit, availability, monitoring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92608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3090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406640" y="31089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Model, Risk &amp; Testing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06640" y="347472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STRIDE, risk register, SAST/SCA, regression &amp; penetration testing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443484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4599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406640" y="4617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Conclusions &amp; Demo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06640" y="498348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Software-quality evaluation, conclusions, and live demonstration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the Problem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 signals are easy to miss.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Concealment, recall bias, stigma, and delayed help-seeking mean distress is often under-reported in standard screening. Clinicians need objective, behavioral evidence that complements — not replaces — professional judgment.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security is essential here.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and cursor telemetry function as behavioral biometrics and, combined with screening scores, constitute sensitive health data under the Data Privacy Act. A tool that captures it must protect confidentiality, integrity, and accountability by design.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37960" y="1371600"/>
            <a:ext cx="4983480" cy="4114800"/>
          </a:xfrm>
          <a:prstGeom prst="roundRect">
            <a:avLst>
              <a:gd name="adj" fmla="val 2222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15727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PsyClick addresses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21488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within-session signal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0" y="25146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relies on self-report alone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0" y="3200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data, weak safeguards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0" y="35661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biometrics need real protection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0" y="42519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must stay central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0" y="461772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must be explainable &amp; non-diagnostic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System Objectives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Hardware-abstracted, high-resolution telemetry capture (HAL)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Within-session EWMA personal baseline (no population priors)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anomaly detection — Hotelling's T², PSI/PAI, fuzzy classification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validity &amp; ISO/IEC 25010 software-quality evaluation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5EFEA"/>
          </a:solidFill>
          <a:ln w="12700">
            <a:solidFill>
              <a:srgbClr val="C7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54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Information-Assurance Objectives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 &amp; accountability by design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of exports/backups and secure credential storage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Auditability, recoverability, and security monitoring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Conceptual/simulated security testing &amp; risk assessment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non-diagnostic clinical decision-support desktop application that amplifies behavioral signals for the clinician — hardened end-to-end with information-assurance controls.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04288"/>
            <a:ext cx="128016" cy="1097280"/>
          </a:xfrm>
          <a:prstGeom prst="roundRect">
            <a:avLst>
              <a:gd name="adj" fmla="val 35714"/>
            </a:avLst>
          </a:prstGeom>
          <a:solidFill>
            <a:srgbClr val="127C7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&amp; offline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API on 127.0.0.1:5101 and local SQLite. No raw telemetry leaves the workstation by default; no cloud in the default deployment.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304288"/>
            <a:ext cx="128016" cy="1097280"/>
          </a:xfrm>
          <a:prstGeom prst="roundRect">
            <a:avLst>
              <a:gd name="adj" fmla="val 35714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non-diagnostic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67004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carries a rationale (T², PSI/PAI, fuzzy label). The clinician decides — the system never diagnoses.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95928"/>
            <a:ext cx="128016" cy="1097280"/>
          </a:xfrm>
          <a:prstGeom prst="roundRect">
            <a:avLst>
              <a:gd name="adj" fmla="val 35714"/>
            </a:avLst>
          </a:prstGeom>
          <a:solidFill>
            <a:srgbClr val="2E7D6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36168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credentials, RBAC, consent gating, hash-chained audit, DPAPI-encrypted backups, intrusion monitoring.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995928"/>
            <a:ext cx="128016" cy="1097280"/>
          </a:xfrm>
          <a:prstGeom prst="roundRect">
            <a:avLst>
              <a:gd name="adj" fmla="val 35714"/>
            </a:avLst>
          </a:prstGeom>
          <a:solidFill>
            <a:srgbClr val="B9770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Data-minimizing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6168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Pseudonymous client identifiers; full free-text responses are not stored.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10–15 MINUTE SESSION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755648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1965960"/>
            <a:ext cx="640080" cy="64008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2004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login + session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04288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7C7C"/>
                </a:solidFill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450592" y="2286000"/>
            <a:ext cx="1755648" cy="1828800"/>
          </a:xfrm>
          <a:prstGeom prst="roundRect">
            <a:avLst>
              <a:gd name="adj" fmla="val 4167"/>
            </a:avLst>
          </a:prstGeom>
          <a:solidFill>
            <a:srgbClr val="E7EEF7"/>
          </a:solidFill>
          <a:ln w="12700">
            <a:solidFill>
              <a:srgbClr val="CF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8376" y="1965960"/>
            <a:ext cx="640080" cy="64008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13" name="Text 11"/>
          <p:cNvSpPr/>
          <p:nvPr/>
        </p:nvSpPr>
        <p:spPr>
          <a:xfrm>
            <a:off x="300837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23744" y="27432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32004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Pseudonymous client, recorded consent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87952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7C7C"/>
                </a:solidFill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334256" y="2286000"/>
            <a:ext cx="1755648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965960"/>
            <a:ext cx="640080" cy="64008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07408" y="27432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25696" y="32004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&amp; mouse calibration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71616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7C7C"/>
                </a:solidFill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217920" y="2286000"/>
            <a:ext cx="1755648" cy="1828800"/>
          </a:xfrm>
          <a:prstGeom prst="roundRect">
            <a:avLst>
              <a:gd name="adj" fmla="val 4167"/>
            </a:avLst>
          </a:prstGeom>
          <a:solidFill>
            <a:srgbClr val="E7EEF7"/>
          </a:solidFill>
          <a:ln w="12700">
            <a:solidFill>
              <a:srgbClr val="CF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965960"/>
            <a:ext cx="640080" cy="64008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91072" y="27432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2004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/ GAD-7 + emotional tasks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55280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7C7C"/>
                </a:solidFill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101584" y="2286000"/>
            <a:ext cx="1755648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368" y="1965960"/>
            <a:ext cx="640080" cy="64008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31" name="Text 29"/>
          <p:cNvSpPr/>
          <p:nvPr/>
        </p:nvSpPr>
        <p:spPr>
          <a:xfrm>
            <a:off x="865936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174736" y="27432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93024" y="32004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→ EWMA → T² → PSI/PAI → fuzzy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38944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7C7C"/>
                </a:solidFill>
              </a:rPr>
              <a:t>›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985248" y="2286000"/>
            <a:ext cx="1755648" cy="1828800"/>
          </a:xfrm>
          <a:prstGeom prst="roundRect">
            <a:avLst>
              <a:gd name="adj" fmla="val 4167"/>
            </a:avLst>
          </a:prstGeom>
          <a:solidFill>
            <a:srgbClr val="E7EEF7"/>
          </a:solidFill>
          <a:ln w="12700">
            <a:solidFill>
              <a:srgbClr val="CFE0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43032" y="1965960"/>
            <a:ext cx="640080" cy="64008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37" name="Text 35"/>
          <p:cNvSpPr/>
          <p:nvPr/>
        </p:nvSpPr>
        <p:spPr>
          <a:xfrm>
            <a:off x="10543032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058400" y="27432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Audit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76688" y="32004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export, audit, logout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gates all telemetry capture — a fail-closed check enforced server-side before any keystroke or cursor data is recorded.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822960" cy="82296"/>
          </a:xfrm>
          <a:prstGeom prst="rect">
            <a:avLst/>
          </a:prstGeom>
          <a:solidFill>
            <a:srgbClr val="127C7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E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architecture, data flow, data model, and network trust boundaries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38 · DEFENSE IN DEPTH</a:t>
            </a:r>
            <a:endParaRPr lang="en-US" sz="1200" dirty="0"/>
          </a:p>
        </p:txBody>
      </p:sp>
      <p:pic>
        <p:nvPicPr>
          <p:cNvPr id="5" name="Image 0" descr="/tmp/deck/Figure38_Security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822960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463040"/>
            <a:ext cx="2514600" cy="4480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81160" y="16276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28116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layers inside the workstation trust boundary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authorizes before passing control downward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Loopback-only API on 127.0.0.1:5101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39 · CONTEXT &amp; LEVEL-1</a:t>
            </a:r>
            <a:endParaRPr lang="en-US" sz="1200" dirty="0"/>
          </a:p>
        </p:txBody>
      </p:sp>
      <p:pic>
        <p:nvPicPr>
          <p:cNvPr id="5" name="Image 0" descr="/tmp/deck/Figure39_DF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822960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463040"/>
            <a:ext cx="2514600" cy="4480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81160" y="16276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28116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Clinician, patient, administrator, auditor as external actors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capture; results flow to reporting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writes hash-chained audit + backups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40 · CORE DATA MODEL</a:t>
            </a:r>
            <a:endParaRPr lang="en-US" sz="1200" dirty="0"/>
          </a:p>
        </p:txBody>
      </p:sp>
      <p:pic>
        <p:nvPicPr>
          <p:cNvPr id="5" name="Image 0" descr="/tmp/deck/Figure40_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822960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463040"/>
            <a:ext cx="2514600" cy="4480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81160" y="16276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28116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sessions, consent, clinical records separated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least privilege &amp; retention decisions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&amp; audit tracked as first-class entities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Trust Boundaries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41 · LOCAL-FIRST TOPOLOGY</a:t>
            </a:r>
            <a:endParaRPr lang="en-US" sz="1200" dirty="0"/>
          </a:p>
        </p:txBody>
      </p:sp>
      <p:pic>
        <p:nvPicPr>
          <p:cNvPr id="5" name="Image 0" descr="/tmp/deck/Figure41_Net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822960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463040"/>
            <a:ext cx="2514600" cy="4480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81160" y="16276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28116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 boundary contains UI, API, DB, endpoint controls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telemetry leaves the workstation by default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target is a controlled, future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822960" cy="82296"/>
          </a:xfrm>
          <a:prstGeom prst="rect">
            <a:avLst/>
          </a:prstGeom>
          <a:solidFill>
            <a:srgbClr val="127C7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E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Assurance &amp; Security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mandatory control families — implemented in code, not just documented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Security Requirements — Coverage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SECTION III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08483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hashing · 12-char policy · account lockout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294436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4F0E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9443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4568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08483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(admin/clinician/auditor) · ownership scoping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44568" y="294436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4F0EA"/>
          </a:solidFill>
          <a:ln/>
        </p:spPr>
      </p:sp>
      <p:sp>
        <p:nvSpPr>
          <p:cNvPr id="14" name="Text 12"/>
          <p:cNvSpPr/>
          <p:nvPr/>
        </p:nvSpPr>
        <p:spPr>
          <a:xfrm>
            <a:off x="4544568" y="29443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47888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208483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DPAPI-encrypted backups · SHA-256 · restricted CORS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47888" y="294436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4F0EA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29443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3794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Accountability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" y="423367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log · verification endpoint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" y="509320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4F0E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09320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6118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44568" y="3794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44568" y="423367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backup + integrity-verified restore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44568" y="509320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4F0EA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509320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6118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47888" y="3794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47888" y="423367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intrusion monitor · incident-response plan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47888" y="509320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4F0EA"/>
          </a:solidFill>
          <a:ln/>
        </p:spPr>
      </p:sp>
      <p:sp>
        <p:nvSpPr>
          <p:cNvPr id="34" name="Text 32"/>
          <p:cNvSpPr/>
          <p:nvPr/>
        </p:nvSpPr>
        <p:spPr>
          <a:xfrm>
            <a:off x="8247888" y="509320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field-level database encryption are documented recommendations (tracked residual risk), not blocking items.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LEAST PRIVILEGE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password hashing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random salt; parameters stored with the hash. No plaintext credentials.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12-character password policy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954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length enforced server-side, with a common-password blocklist.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7024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failed attempts → 15-minute lock, tracked per account.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01091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sessions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3309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Hashed, expiring tokens with idle/absolute expiry and revocation.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require_roles() gates every protected route for admin / clinician / auditor.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889504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scoping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20954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_scoped_clinician_id() restricts clinicians to their own records.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95020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consent 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427024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check blocks telemetry capture without recorded consent.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501091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53309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account becomes admin; further provisioning needs an admin session.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&amp; Privacy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BY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64208"/>
            <a:ext cx="128016" cy="1325880"/>
          </a:xfrm>
          <a:prstGeom prst="roundRect">
            <a:avLst>
              <a:gd name="adj" fmla="val 35714"/>
            </a:avLst>
          </a:prstGeom>
          <a:solidFill>
            <a:srgbClr val="127C7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64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backups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066544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DPAPI protects exports and SQLite backups; SHA-256 integrity with isolated-directory restore validation.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64208"/>
            <a:ext cx="128016" cy="1325880"/>
          </a:xfrm>
          <a:prstGeom prst="roundRect">
            <a:avLst>
              <a:gd name="adj" fmla="val 35714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64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transmission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066544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Loopback-only API (127.0.0.1:5101) with restricted CORS origins and Electron renderer isolation.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30168"/>
            <a:ext cx="128016" cy="1325880"/>
          </a:xfrm>
          <a:prstGeom prst="roundRect">
            <a:avLst>
              <a:gd name="adj" fmla="val 35714"/>
            </a:avLst>
          </a:prstGeom>
          <a:solidFill>
            <a:srgbClr val="B9770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630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032504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Pseudonymous client identifiers; full free-text responses are not persisted.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4290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630168"/>
            <a:ext cx="128016" cy="1325880"/>
          </a:xfrm>
          <a:prstGeom prst="roundRect">
            <a:avLst>
              <a:gd name="adj" fmla="val 35714"/>
            </a:avLst>
          </a:prstGeom>
          <a:solidFill>
            <a:srgbClr val="2E7D6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630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storage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4032504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use parameterized binds and transactions; no string-built SQL.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Accountability, Availability &amp; Monitoring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RECORD, RECOVER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27C7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Accountability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log (prev_hash → entry_hash)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actor, action &amp; outcome recorded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verify_audit_chain() detects tampering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history &amp; action tracking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4173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2E7D64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4173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verifiable SQLite backups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Isolated-directory restore validation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approval before restore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RPO 24h / RTO 4h (workstation)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4173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B9770E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14173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19456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intrusion monitor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/ credential-stuffing detection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Throttles offending source; logs event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/api/security/intrusion-alerts (admin/auditor)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OVER THE LOCAL-FIRST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72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identifiers &amp; consent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scores &amp; telemetry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T²/PSI/PAI results &amp; reports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session tokens, keys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records &amp; backups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trust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4173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72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01168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local users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accounts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on the endpoint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/ careless users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attackers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seeking admin access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E5EFEA"/>
          </a:solidFill>
          <a:ln w="12700">
            <a:solidFill>
              <a:srgbClr val="C7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72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→ Mitigation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0" y="2057400"/>
            <a:ext cx="3429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→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sessions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→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 →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logging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 →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+ CORS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→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+ intrusion monitor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→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ownership scoping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16-ITEM REGISTER · INHERENT → RESIDUAL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Critical risks are now mitigated to Low/Medium residual.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scored Likelihood × Impact, inherent vs. residual, with a documented treatment plan. Plaintext passwords, unauthenticated API, and unauthorized record access — the original Criticals — are closed in code.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residual risks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E4F0E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61188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361188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/ credential stuffing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Lockout + intrusion monitor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FBF1D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411480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Build-toolchain devDependencies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Dev-only; runtime clean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FBF1D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1772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461772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Documented recommendation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FBF1D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512064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Live-DB field encryption (R-06)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Blind-index scheme proposed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1371600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 heat map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35240" y="2057400"/>
            <a:ext cx="1097280" cy="960120"/>
          </a:xfrm>
          <a:prstGeom prst="rect">
            <a:avLst/>
          </a:prstGeom>
          <a:solidFill>
            <a:srgbClr val="E4F0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2057400"/>
            <a:ext cx="1097280" cy="960120"/>
          </a:xfrm>
          <a:prstGeom prst="rect">
            <a:avLst/>
          </a:prstGeom>
          <a:solidFill>
            <a:srgbClr val="FBF1D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2057400"/>
            <a:ext cx="1097280" cy="960120"/>
          </a:xfrm>
          <a:prstGeom prst="rect">
            <a:avLst/>
          </a:prstGeom>
          <a:solidFill>
            <a:srgbClr val="FBF1D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3017520"/>
            <a:ext cx="1097280" cy="960120"/>
          </a:xfrm>
          <a:prstGeom prst="rect">
            <a:avLst/>
          </a:prstGeom>
          <a:solidFill>
            <a:srgbClr val="E4F0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3017520"/>
            <a:ext cx="1097280" cy="960120"/>
          </a:xfrm>
          <a:prstGeom prst="rect">
            <a:avLst/>
          </a:prstGeom>
          <a:solidFill>
            <a:srgbClr val="FBF1D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29800" y="3017520"/>
            <a:ext cx="1097280" cy="960120"/>
          </a:xfrm>
          <a:prstGeom prst="rect">
            <a:avLst/>
          </a:prstGeom>
          <a:solidFill>
            <a:srgbClr val="F6DF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3977640"/>
            <a:ext cx="1097280" cy="960120"/>
          </a:xfrm>
          <a:prstGeom prst="rect">
            <a:avLst/>
          </a:prstGeom>
          <a:solidFill>
            <a:srgbClr val="E4F0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32520" y="3977640"/>
            <a:ext cx="1097280" cy="960120"/>
          </a:xfrm>
          <a:prstGeom prst="rect">
            <a:avLst/>
          </a:prstGeom>
          <a:solidFill>
            <a:srgbClr val="E4F0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3977640"/>
            <a:ext cx="1097280" cy="960120"/>
          </a:xfrm>
          <a:prstGeom prst="rect">
            <a:avLst/>
          </a:prstGeom>
          <a:solidFill>
            <a:srgbClr val="FBF1D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5349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residual risks sit Low–Medium after treatment.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COMPOSITION, REGRESSION &amp; CONCEPTUAL PEN-TEST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86200" y="15727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tests — 9 pass on any platform; the 10th (Windows DPAPI backup) passes on the Windows target.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bandit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0" y="15727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High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Medium (B608 reviewed as false positives — parameterized binds) · 15 Low, across 10 modules.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685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— npm audit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36301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 after non-breaking fixes; all remaining are dev-dependencies, none in shipped runtime.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5204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  <a:effectLst>
            <a:outerShdw sx="100000" sy="100000" kx="0" ky="0" algn="bl" rotWithShape="0" blurRad="63500" dist="25400" dir="5400000">
              <a:srgbClr val="C9D6E5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685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363016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42976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conceptual/simulated scenarios: password guessing, session/consent/RBAC bypass, audit tampering, brute-force.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&amp; Validation Results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· CONVERGENT VALIDITY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5.00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25010 overall mean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6916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5.00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characteristic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916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5.00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characteristic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16916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0.466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98280" y="2331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concordance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105 normative participants and 15 clinical sessions.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validity assessed against PHQ-9 / GAD-7; software quality via a structured ISO/IEC 25010 survey.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BF1DD"/>
          </a:solidFill>
          <a:ln w="12700">
            <a:solidFill>
              <a:srgbClr val="E7CF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68172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Research-integrity note.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figures must be re-verified against the primary dataset before final submission — the raw participant data and analysis scripts should trace every reported statistic. This is flagged as the top pre-defense action item.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PSYCLICK SECURE DEMONSTRATES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functional, explainable prototype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amplifies behavioral signals for the clinician while remaining strictly non-diagnostic.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542032"/>
            <a:ext cx="457200" cy="45720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4963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implemented, not just documented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mandatory control families are enforced in code and verified by a passing regression suite.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621024"/>
            <a:ext cx="457200" cy="45720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57530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and offline by 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5935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runs entirely on the workstation — no cloud dependency, protecting sensitive telemetry.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700016"/>
            <a:ext cx="457200" cy="457200"/>
          </a:xfrm>
          <a:prstGeom prst="ellipse">
            <a:avLst/>
          </a:prstGeom>
          <a:solidFill>
            <a:srgbClr val="127C7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465429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its boundaries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50383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risks and pending external evidence are documented, not hidden.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PRODUCTION CLINICAL 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Enhancements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57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multi-factor authentication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credential security beyond password + lockout.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257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database encryption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7307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blind-index scheme for lookup fields (risk R-06).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5257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security retest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50566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dynamic penetration test on a running deployment.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Validation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257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Clean-install &amp; restore drills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24048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 on an independent workstation; live restore evidence.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5257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UAT &amp; sign-off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37307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signed user-acceptance forms and clinical-owner approval.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4526280"/>
            <a:ext cx="5257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Chapter 4 data provenance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92240" y="50566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reported statistic to primary data before defense.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</a:t>
            </a:r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CS0029 Information Assurance &amp; Security   ·   July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SHOW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78308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and re-authentication (lockout and intrusion-monitor behavior)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management — create clinician / auditor accounts and assign roles (admin)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functionality — consent-gated intake, calibration, assessment, dashboard and report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— authorization checks on export and DPAPI-encrypted backup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— review activity and verify hash-chain integrity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verification and recovery (synthetic data only)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1463040"/>
            <a:ext cx="4069080" cy="4297680"/>
          </a:xfrm>
          <a:prstGeom prst="roundRect">
            <a:avLst>
              <a:gd name="adj" fmla="val 2247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6809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0" y="2423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API on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127.0.0.1:5101</a:t>
            </a:r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under %APPDATA%\PsyClickSecure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connection required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4892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synthetic / non-clinical data is used in the demonstration.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61520" cy="146304"/>
          </a:xfrm>
          <a:prstGeom prst="rect">
            <a:avLst/>
          </a:prstGeom>
          <a:solidFill>
            <a:srgbClr val="127C7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41248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4114800" cy="0"/>
          </a:xfrm>
          <a:prstGeom prst="line">
            <a:avLst/>
          </a:prstGeom>
          <a:noFill/>
          <a:ln w="19050">
            <a:solidFill>
              <a:srgbClr val="127C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PsyClick Secure remains a non-diagnostic research and decision-support system, subject to professional judgment.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Añonuevo · Ballano · Huertas · Tablate   —   CS0029, FEU Institute of Technology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2026-07-11T19:03:57Z</dcterms:created>
  <dcterms:modified xsi:type="dcterms:W3CDTF">2026-07-11T19:03:57Z</dcterms:modified>
</cp:coreProperties>
</file>